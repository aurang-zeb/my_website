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8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A749-B2ED-619F-436A-41443FA3B1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601EA2-74EF-CF35-33D4-128383370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3F9F4-7CA1-70A5-6DBC-C1F6FA9B0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CA01E-5A0C-4EF5-8E60-AC6824DD118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64D0E-7108-9F07-B7DB-02A11E4D4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B0A86-7AB0-1902-2F4F-4C9E155AA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3F8B9-3576-4B7E-8D60-B72B4BDD7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848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A8B57-FA5C-743D-516E-0789F8034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B6E17-E29B-C8D8-5101-CE7C6E6AA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FED5E-0E73-8CF3-32B6-8C321E2E3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CA01E-5A0C-4EF5-8E60-AC6824DD118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AF5D9-DBD0-2D09-F95A-D1832CF4C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30F83-4CE7-6B41-28FE-3887CE62D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3F8B9-3576-4B7E-8D60-B72B4BDD7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6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6816-B5BA-E5C7-804A-5209F3A37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C3F6A-36BC-DAC0-A280-76F1FD627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9FA12-FD38-7FC5-92BC-0DB030DC9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CA01E-5A0C-4EF5-8E60-AC6824DD118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B859F-1790-F9BA-B6D1-2E5826ACD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6BAEF-2A08-0DD0-2CBE-D157A93D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3F8B9-3576-4B7E-8D60-B72B4BDD7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83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DF8A7-5DE5-EE8A-F4F6-487316E93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CAA7B-7796-8948-B976-FE2DC61B4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CC3AC-1153-71A6-34E0-0BE7775A6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808CA-535D-CE68-7245-05E0F020D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CA01E-5A0C-4EF5-8E60-AC6824DD118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937FA-5112-8078-2BA9-94352A334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BB02A-F24A-4096-3545-CAD6FE62E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3F8B9-3576-4B7E-8D60-B72B4BDD7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916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E8F62-159B-43F0-9220-1D30DB01B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44771-8295-09E3-A236-973BB9306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88BC48-1B21-4E6E-8D31-A1079EB0D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122402-D4C4-076F-5411-5BF4C7578A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18FF1E-DC98-AED6-29AF-02964BEC77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12F68C-0D88-73B7-0C04-106318761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CA01E-5A0C-4EF5-8E60-AC6824DD118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B098B3-68B0-EB71-059C-C67319C34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D951F4-B9F6-089C-9B36-45B3A26E2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3F8B9-3576-4B7E-8D60-B72B4BDD7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17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1441-17DD-9F4A-F748-3A362867B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E38402-CE04-F72E-03F3-670EECAB9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CA01E-5A0C-4EF5-8E60-AC6824DD118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92BD36-698A-70E2-C476-16E157F5D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22837D-B8B7-EC60-30A2-1273DBA54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3F8B9-3576-4B7E-8D60-B72B4BDD7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61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A3217D-CF97-2808-38A8-F1F4D1665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CA01E-5A0C-4EF5-8E60-AC6824DD118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375D3B-4C46-902C-11B2-5105AADA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015B8-A377-2190-FBD3-7692EF8F2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3F8B9-3576-4B7E-8D60-B72B4BDD7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040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A7EBB-EFCD-CBE2-FEF0-BACA75C97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4EF53-7553-F492-0134-CD71A29AC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62E32-8F85-6AFC-D6EA-99C9E7829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702C7-DAC6-5706-880A-7A89FF647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CA01E-5A0C-4EF5-8E60-AC6824DD118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64411E-2A5D-989E-4B54-4C67C5EB1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43D8C-053E-0A35-D7F0-728D7D693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3F8B9-3576-4B7E-8D60-B72B4BDD7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77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58497-E3BE-8BFA-C2B7-D54D3430D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421353-5CB3-211B-B438-2D71A72F5E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F9021-B388-F7AB-FE7F-5E94821BC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53F34-9C0E-4ED6-D9B0-4991EECC2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CA01E-5A0C-4EF5-8E60-AC6824DD118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FE134-2127-DB70-CDBE-BD043EC71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42ECB-465C-260E-98D9-8EC005842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3F8B9-3576-4B7E-8D60-B72B4BDD7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19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2B7AB-7E89-C785-2C2F-FE90CD1DE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58B6C-1DD5-B1DE-1E22-39D1150A2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76A74-725D-07F0-7421-A397ED7C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CA01E-5A0C-4EF5-8E60-AC6824DD118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32D7A-B385-DC0E-6C93-0F4D286AB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39020-0511-EE49-3392-238C2E3FD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3F8B9-3576-4B7E-8D60-B72B4BDD7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89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44D74-5D99-7EDC-B9BE-A0C9FB44C6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5837B4-C797-37E7-95FA-3BAAE8795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9A0D0-38D3-D405-E7B1-86A14D278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CA01E-5A0C-4EF5-8E60-AC6824DD118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97810-73BD-E344-5F46-88AC684F5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E0471-01E1-0649-EA23-32230EACA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3F8B9-3576-4B7E-8D60-B72B4BDD7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27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E976C8-75CF-0839-0303-041C208F7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465BF-7294-E460-AA70-BA780ACB9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6ED40-5F8E-4D14-4A6F-B56384020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CA01E-5A0C-4EF5-8E60-AC6824DD118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7EF97-C8BC-9AB5-7457-96FBA53A4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99613-3320-2A1E-DED2-9F8C1E6BE6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3F8B9-3576-4B7E-8D60-B72B4BDD7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92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7A229-F888-E816-7D14-E98B5FFDFF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C1CB2-5C4A-CCB5-CCF2-BE32FF0E5C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A65D14-FEF9-92CE-13FE-52829CE2F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249237"/>
            <a:ext cx="11784076" cy="646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70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7048-02D6-4269-9E3B-51742566A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6D1A8-AE95-E3AF-AFB1-ECB824EAE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117AA8-6EB5-8C87-9A0E-EA728BA29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143669"/>
            <a:ext cx="11668305" cy="634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251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33C71-CC0F-650C-2769-B39434157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756CD-5FEB-232F-91C8-9E4FC1DEC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9E5622-B9CC-CAA1-DB83-FE00AA4C9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91281"/>
            <a:ext cx="11696260" cy="663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44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2181A-82BC-B92F-6B73-C4451385F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809E1-507F-389A-BEC1-F79D17C51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7BDF79-CFA9-3E04-751A-1BA227CBB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50" y="148960"/>
            <a:ext cx="11590899" cy="634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030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72D12-001E-0D88-6FCD-D63EDF622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8092A-261A-97E9-0F10-EC4C0FF76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87A26D-F376-B7E4-FD9C-20AFC15B1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99" y="173037"/>
            <a:ext cx="11823309" cy="661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001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FB124C-4B0C-4A81-8633-17257B151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82006" y="569844"/>
            <a:ext cx="8427988" cy="5649981"/>
          </a:xfrm>
          <a:prstGeom prst="rect">
            <a:avLst/>
          </a:prstGeom>
          <a:ln>
            <a:noFill/>
          </a:ln>
          <a:effectLst>
            <a:outerShdw blurRad="317500" dist="317500" dir="7140000" sx="95000" sy="95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B044527-EF5D-3F55-F471-1516B9A55A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5835"/>
          <a:stretch>
            <a:fillRect/>
          </a:stretch>
        </p:blipFill>
        <p:spPr>
          <a:xfrm>
            <a:off x="1211390" y="163246"/>
            <a:ext cx="9769220" cy="653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508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diagram of a weather diagram&#10;&#10;Description automatically generated">
            <a:extLst>
              <a:ext uri="{FF2B5EF4-FFF2-40B4-BE49-F238E27FC236}">
                <a16:creationId xmlns:a16="http://schemas.microsoft.com/office/drawing/2014/main" id="{33BF6DF9-8473-2BBF-9947-2CF78A0F5F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090" b="4336"/>
          <a:stretch>
            <a:fillRect/>
          </a:stretch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932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F11AB-B008-6AE3-AC4A-8E06CEA71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4585B-5256-95F7-B580-D2EEA5264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D9941F-7470-28E6-932B-58C2D85C1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43" y="131811"/>
            <a:ext cx="11844040" cy="6226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60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formation of rainfall cloud">
            <a:extLst>
              <a:ext uri="{FF2B5EF4-FFF2-40B4-BE49-F238E27FC236}">
                <a16:creationId xmlns:a16="http://schemas.microsoft.com/office/drawing/2014/main" id="{8DDC5DB6-D1F0-79B7-F8E1-D8945A4E22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82" r="38559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42A4B9-2B1C-7D90-5861-BFE1A3CFB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 fontScale="90000"/>
          </a:bodyPr>
          <a:lstStyle/>
          <a:p>
            <a:r>
              <a:rPr kumimoji="0" lang="en-US" altLang="en-US" sz="4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1. Critical Decision Making (Cumulonimbus Safety)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70094B-E4B8-F448-8E14-E1929BE13B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2370671"/>
            <a:ext cx="5247340" cy="349687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 pilot receives a weather briefing indicating the presence of a vertically developed cloud formation presenting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severe turbulence, lightning, and hail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a.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Which cloud type is the pilot most likely encountering?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b.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What mandatory action must the pilot take, and why is this action crucial considering the primary impacts of this specific cloud?</a:t>
            </a:r>
          </a:p>
        </p:txBody>
      </p:sp>
    </p:spTree>
    <p:extLst>
      <p:ext uri="{BB962C8B-B14F-4D97-AF65-F5344CB8AC3E}">
        <p14:creationId xmlns:p14="http://schemas.microsoft.com/office/powerpoint/2010/main" val="2266519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7AB6EF-52A8-EEFB-C6D2-6D573DC1D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n-US" sz="4000" dirty="0"/>
              <a:t>Hazard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D14343-F91A-7F10-3F9B-40910B65D6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53" r="36747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13818-310F-928C-B2A8-E6A3B8857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anchor="ctr">
            <a:normAutofit lnSpcReduction="10000"/>
          </a:bodyPr>
          <a:lstStyle/>
          <a:p>
            <a:r>
              <a:rPr lang="en-US" sz="2000" dirty="0"/>
              <a:t>2. Hazard Comparison and Altitude Zones </a:t>
            </a:r>
          </a:p>
          <a:p>
            <a:r>
              <a:rPr lang="en-US" sz="2000" dirty="0"/>
              <a:t>Contrast the flight challenge presented by Fog (Stratus on the ground) with the challenge presented by a Cumulus cloud.</a:t>
            </a:r>
          </a:p>
          <a:p>
            <a:r>
              <a:rPr lang="en-US" sz="2000" dirty="0"/>
              <a:t>• a. What is the primary impact on the aircraft for each cloud type?</a:t>
            </a:r>
          </a:p>
          <a:p>
            <a:r>
              <a:rPr lang="en-US" sz="2000" dirty="0"/>
              <a:t>• b. Explain how the difference in their typical altitude zones (Low to Mid-Level vs. on the ground) dictates the necessary pilot action for each situation</a:t>
            </a:r>
          </a:p>
        </p:txBody>
      </p:sp>
    </p:spTree>
    <p:extLst>
      <p:ext uri="{BB962C8B-B14F-4D97-AF65-F5344CB8AC3E}">
        <p14:creationId xmlns:p14="http://schemas.microsoft.com/office/powerpoint/2010/main" val="1455341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uds in sky">
            <a:extLst>
              <a:ext uri="{FF2B5EF4-FFF2-40B4-BE49-F238E27FC236}">
                <a16:creationId xmlns:a16="http://schemas.microsoft.com/office/drawing/2014/main" id="{161ECEDC-A53F-B780-EDAA-CB033AEF2D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74" r="26359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A6BEB-F3CA-3DEB-D9EA-8D30007C1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3. Interpreting Flight Conditions (Cumulus Turbulence)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56BED-F030-A686-0B4F-EE44C4E8F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 pilot reports experiencing "light but frequent bumps" during flight.</a:t>
            </a:r>
          </a:p>
          <a:p>
            <a:r>
              <a:rPr lang="en-US" sz="2000" dirty="0"/>
              <a:t>• a. Assuming this event occurred in a Cumulus cloud, what impact is causing the "bumps," and what does this suggest about the strength of the turbulence?</a:t>
            </a:r>
          </a:p>
          <a:p>
            <a:r>
              <a:rPr lang="en-US" sz="2000" dirty="0"/>
              <a:t>• b. According to the required pilot action for this cloud type, should the pilot attempt to fly around the cloud? Why or why not?</a:t>
            </a:r>
          </a:p>
        </p:txBody>
      </p:sp>
    </p:spTree>
    <p:extLst>
      <p:ext uri="{BB962C8B-B14F-4D97-AF65-F5344CB8AC3E}">
        <p14:creationId xmlns:p14="http://schemas.microsoft.com/office/powerpoint/2010/main" val="3814641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A cloudy sky as seen from the airplane window">
            <a:extLst>
              <a:ext uri="{FF2B5EF4-FFF2-40B4-BE49-F238E27FC236}">
                <a16:creationId xmlns:a16="http://schemas.microsoft.com/office/drawing/2014/main" id="{5B140586-2AEF-C01B-3D14-D5DA1FA0A2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108" r="7670" b="1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4AB388-2D44-0918-3337-D1E3FB881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 dirty="0"/>
              <a:t>4. Identifying Safe Conditions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D5EEFB6-A612-AAB7-BCB3-85E60D882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 flight path includes navigating through a high-level cloud zone where pilots report no turbulence and good visibility.</a:t>
            </a:r>
          </a:p>
          <a:p>
            <a:r>
              <a:rPr lang="en-US" sz="2000" dirty="0"/>
              <a:t>• a. Which cloud type is the pilot most likely flying through?</a:t>
            </a:r>
          </a:p>
          <a:p>
            <a:r>
              <a:rPr lang="en-US" sz="2000" dirty="0"/>
              <a:t>• b. What specific pilot action is required when operating in this altitude zone?</a:t>
            </a:r>
          </a:p>
        </p:txBody>
      </p:sp>
    </p:spTree>
    <p:extLst>
      <p:ext uri="{BB962C8B-B14F-4D97-AF65-F5344CB8AC3E}">
        <p14:creationId xmlns:p14="http://schemas.microsoft.com/office/powerpoint/2010/main" val="1149343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a control panel of an airplane flying at night">
            <a:extLst>
              <a:ext uri="{FF2B5EF4-FFF2-40B4-BE49-F238E27FC236}">
                <a16:creationId xmlns:a16="http://schemas.microsoft.com/office/drawing/2014/main" id="{0047F2A5-BF12-CE2D-1859-A5486FB0D7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35" r="33606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FB411B-5015-82B6-D873-BC7825D32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 dirty="0"/>
              <a:t>5. Application of Instrumentation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83B5D77-256B-86C8-7A9C-86D0465C8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 pilot is preparing for takeoff under conditions of poor visibility due to a cloud hazard near the ground.</a:t>
            </a:r>
          </a:p>
          <a:p>
            <a:r>
              <a:rPr lang="en-US" sz="2000" dirty="0"/>
              <a:t>• a. Identify the cloud hazard responsible for this poor visibility.</a:t>
            </a:r>
          </a:p>
          <a:p>
            <a:r>
              <a:rPr lang="en-US" sz="2000" dirty="0"/>
              <a:t>• b. What specific reliance must the pilot employ to ensure safe takeoff and landing procedures under these conditions?</a:t>
            </a:r>
          </a:p>
        </p:txBody>
      </p:sp>
    </p:spTree>
    <p:extLst>
      <p:ext uri="{BB962C8B-B14F-4D97-AF65-F5344CB8AC3E}">
        <p14:creationId xmlns:p14="http://schemas.microsoft.com/office/powerpoint/2010/main" val="429961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how to make clouds&#10;&#10;Description automatically generated">
            <a:extLst>
              <a:ext uri="{FF2B5EF4-FFF2-40B4-BE49-F238E27FC236}">
                <a16:creationId xmlns:a16="http://schemas.microsoft.com/office/drawing/2014/main" id="{A4684AE5-33E7-E1CC-33EE-E28F6911BF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675" r="554" b="1"/>
          <a:stretch>
            <a:fillRect/>
          </a:stretch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995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0CFB124C-4B0C-4A81-8633-17257B151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82006" y="569844"/>
            <a:ext cx="8427988" cy="5649981"/>
          </a:xfrm>
          <a:prstGeom prst="rect">
            <a:avLst/>
          </a:prstGeom>
          <a:ln>
            <a:noFill/>
          </a:ln>
          <a:effectLst>
            <a:outerShdw blurRad="317500" dist="317500" dir="7140000" sx="95000" sy="95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How to Make a Cloud in a Bottle">
            <a:extLst>
              <a:ext uri="{FF2B5EF4-FFF2-40B4-BE49-F238E27FC236}">
                <a16:creationId xmlns:a16="http://schemas.microsoft.com/office/drawing/2014/main" id="{C0FC8338-65CF-B95F-AAE7-066DCB9D06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"/>
          <a:stretch>
            <a:fillRect/>
          </a:stretch>
        </p:blipFill>
        <p:spPr bwMode="auto">
          <a:xfrm>
            <a:off x="1522467" y="337060"/>
            <a:ext cx="9147065" cy="6115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A78422-8B64-2249-14F2-D4FB8752766A}"/>
              </a:ext>
            </a:extLst>
          </p:cNvPr>
          <p:cNvSpPr txBox="1"/>
          <p:nvPr/>
        </p:nvSpPr>
        <p:spPr>
          <a:xfrm>
            <a:off x="2753751" y="3240817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733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EF84B-DC91-2303-9127-8E1789515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Bird flight simulator</a:t>
            </a:r>
          </a:p>
        </p:txBody>
      </p:sp>
      <p:pic>
        <p:nvPicPr>
          <p:cNvPr id="8" name="Content Placeholder 7" descr="A bird flying in the sky&#10;&#10;Description automatically generated">
            <a:extLst>
              <a:ext uri="{FF2B5EF4-FFF2-40B4-BE49-F238E27FC236}">
                <a16:creationId xmlns:a16="http://schemas.microsoft.com/office/drawing/2014/main" id="{E49E72E3-CCA8-4893-86AE-3370186BDB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316"/>
          <a:stretch>
            <a:fillRect/>
          </a:stretch>
        </p:blipFill>
        <p:spPr>
          <a:xfrm>
            <a:off x="4502428" y="1396763"/>
            <a:ext cx="7225748" cy="40644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FAA2C3-CD98-82C1-8FCF-6F687AA7DE7A}"/>
              </a:ext>
            </a:extLst>
          </p:cNvPr>
          <p:cNvSpPr txBox="1"/>
          <p:nvPr/>
        </p:nvSpPr>
        <p:spPr>
          <a:xfrm>
            <a:off x="3049172" y="3240817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711BCED-E0C9-A9BC-811B-8CFFCBAE6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104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</Words>
  <Application>Microsoft Office PowerPoint</Application>
  <PresentationFormat>Widescreen</PresentationFormat>
  <Paragraphs>22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Critical Decision Making (Cumulonimbus Safety) </vt:lpstr>
      <vt:lpstr>Hazard </vt:lpstr>
      <vt:lpstr>3. Interpreting Flight Conditions (Cumulus Turbulence)</vt:lpstr>
      <vt:lpstr>4. Identifying Safe Conditions</vt:lpstr>
      <vt:lpstr>5. Application of Instrumentation</vt:lpstr>
      <vt:lpstr>PowerPoint Presentation</vt:lpstr>
      <vt:lpstr>PowerPoint Presentation</vt:lpstr>
      <vt:lpstr>Bird flight simulator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Sunita Fredrick</dc:creator>
  <cp:lastModifiedBy>Sunita Fredrick</cp:lastModifiedBy>
  <cp:revision>1</cp:revision>
  <dcterms:created xsi:type="dcterms:W3CDTF">2025-12-13T02:46:44Z</dcterms:created>
  <dcterms:modified xsi:type="dcterms:W3CDTF">2025-12-13T03:14:36Z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2025-12-13T03:14:36Z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a7da23b8-bdeb-4275-80bb-0c2c10d51935</vt:lpwstr>
  </property>
  <property fmtid="{D5CDD505-2E9C-101B-9397-08002B2CF9AE}" pid="8" name="MSIP_Label_c337be75-dfbb-4261-9834-ac247c7dde13_ContentBits">
    <vt:lpwstr>0</vt:lpwstr>
  </property>
</Properties>
</file>